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60" r:id="rId3"/>
    <p:sldId id="264"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39F691-A225-450C-BD8C-7FCF826521BF}"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23FA1-4510-41DD-9631-7B540903E10B}" type="slidenum">
              <a:rPr lang="en-IN" smtClean="0"/>
              <a:t>‹#›</a:t>
            </a:fld>
            <a:endParaRPr lang="en-IN"/>
          </a:p>
        </p:txBody>
      </p:sp>
    </p:spTree>
    <p:extLst>
      <p:ext uri="{BB962C8B-B14F-4D97-AF65-F5344CB8AC3E}">
        <p14:creationId xmlns:p14="http://schemas.microsoft.com/office/powerpoint/2010/main" val="757600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5F37F-3E36-4677-88FE-31D08A695D7A}" type="slidenum">
              <a:rPr lang="en-IN" smtClean="0"/>
              <a:t>1</a:t>
            </a:fld>
            <a:endParaRPr lang="en-IN"/>
          </a:p>
        </p:txBody>
      </p:sp>
    </p:spTree>
    <p:extLst>
      <p:ext uri="{BB962C8B-B14F-4D97-AF65-F5344CB8AC3E}">
        <p14:creationId xmlns:p14="http://schemas.microsoft.com/office/powerpoint/2010/main" val="1476836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5F37F-3E36-4677-88FE-31D08A695D7A}" type="slidenum">
              <a:rPr lang="en-IN" smtClean="0"/>
              <a:t>2</a:t>
            </a:fld>
            <a:endParaRPr lang="en-IN"/>
          </a:p>
        </p:txBody>
      </p:sp>
    </p:spTree>
    <p:extLst>
      <p:ext uri="{BB962C8B-B14F-4D97-AF65-F5344CB8AC3E}">
        <p14:creationId xmlns:p14="http://schemas.microsoft.com/office/powerpoint/2010/main" val="1135442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1542-9B70-BC2B-9F08-140B74A80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FF4D2-6C80-A2CC-EAED-B3641FDAED9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4A753C5-02B9-7A15-D8E5-BE6B6885B2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577CC0-21EA-AF6F-1F6D-58296E6BC7E2}"/>
              </a:ext>
            </a:extLst>
          </p:cNvPr>
          <p:cNvSpPr>
            <a:spLocks noGrp="1"/>
          </p:cNvSpPr>
          <p:nvPr>
            <p:ph type="sldNum" sz="quarter" idx="5"/>
          </p:nvPr>
        </p:nvSpPr>
        <p:spPr/>
        <p:txBody>
          <a:bodyPr/>
          <a:lstStyle/>
          <a:p>
            <a:fld id="{E755F37F-3E36-4677-88FE-31D08A695D7A}" type="slidenum">
              <a:rPr lang="en-IN" smtClean="0"/>
              <a:t>3</a:t>
            </a:fld>
            <a:endParaRPr lang="en-IN"/>
          </a:p>
        </p:txBody>
      </p:sp>
    </p:spTree>
    <p:extLst>
      <p:ext uri="{BB962C8B-B14F-4D97-AF65-F5344CB8AC3E}">
        <p14:creationId xmlns:p14="http://schemas.microsoft.com/office/powerpoint/2010/main" val="172473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6790-5258-C145-D078-37EE5CC521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6020DC-7466-A932-B5FA-02504A6C5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4145FF-9210-F2C1-2448-37141AFD8706}"/>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0AE663A9-C6FB-8B24-3018-AE57F9471E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94637-0C6A-4C97-5C22-A059280B4113}"/>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50684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3063-87C4-8E7E-EDE2-88DE01BCE5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BFDB1-38E2-468C-0A73-6059269ABA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2E457A-72C0-32BE-2FD3-E16E91E6527B}"/>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032C26AB-B608-AFAC-CCC2-D8B214815B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95575-427B-7133-65D0-702AB362028A}"/>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899590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EB22-96B6-81F7-6D6F-487FB59B8D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41C2EC-FA6A-2D32-4DF2-F6DCCFBBB7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E45FA3-C4A6-C2D4-A9AC-8652502374E7}"/>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D795C888-DF0E-D9CA-7264-6175C90BF1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8EE776-0052-6FD7-B61F-AA2FE0351605}"/>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637794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C8AA-9EB5-191E-7541-991C23028E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AFCB25-E3DE-6052-09A8-C8CAFAF138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2B8FC9-6F15-38F0-8007-37DB8CEC74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1EF501-287E-8F1C-53BA-8B1500C69E50}"/>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6" name="Footer Placeholder 5">
            <a:extLst>
              <a:ext uri="{FF2B5EF4-FFF2-40B4-BE49-F238E27FC236}">
                <a16:creationId xmlns:a16="http://schemas.microsoft.com/office/drawing/2014/main" id="{4398696C-51B6-C08E-EEC1-D7C7A55573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C9DC0C-BBD7-BFAA-B152-28674868BFB6}"/>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41825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121B5-79D2-7B2C-C791-FC9EB7A53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9014B-FC33-EAB4-4576-3526FA455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C5677-1842-69A9-D4B5-D4A0FFB6D2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C29F86-DE07-2ED6-657E-8259CA248C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AE6AFB-0038-3F21-DDAB-EE8E4BC45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966D04-368B-E3A4-2DC9-79A354C47967}"/>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8" name="Footer Placeholder 7">
            <a:extLst>
              <a:ext uri="{FF2B5EF4-FFF2-40B4-BE49-F238E27FC236}">
                <a16:creationId xmlns:a16="http://schemas.microsoft.com/office/drawing/2014/main" id="{7BFAC324-72A1-38EF-DC80-0D553F9DCB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A3A865-3F86-DD39-018C-22B620F0EB79}"/>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473391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F2E9-AD77-E82D-BE8E-6634C01338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F0B881-A83D-ADE6-2B07-8AB042153CDA}"/>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4" name="Footer Placeholder 3">
            <a:extLst>
              <a:ext uri="{FF2B5EF4-FFF2-40B4-BE49-F238E27FC236}">
                <a16:creationId xmlns:a16="http://schemas.microsoft.com/office/drawing/2014/main" id="{296330C8-78D8-7CAD-06FD-26630EA473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30A805-3384-5B28-461D-F07758DD787C}"/>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99854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EAC3F3-EA2B-7051-58C8-A702D0A4A330}"/>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3" name="Footer Placeholder 2">
            <a:extLst>
              <a:ext uri="{FF2B5EF4-FFF2-40B4-BE49-F238E27FC236}">
                <a16:creationId xmlns:a16="http://schemas.microsoft.com/office/drawing/2014/main" id="{28D31288-FDFD-FA96-A76B-F0E478B814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32917A-9840-75D8-7279-0644973026A8}"/>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72309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89FA-7377-BD9D-19DC-0265D425A0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C4E79A-3B40-0511-5F1F-28FB7BB94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337721-91D2-F6A3-D38C-4BDC0884E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E24A1-2BEA-95E8-3ED6-B97400EA2549}"/>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6" name="Footer Placeholder 5">
            <a:extLst>
              <a:ext uri="{FF2B5EF4-FFF2-40B4-BE49-F238E27FC236}">
                <a16:creationId xmlns:a16="http://schemas.microsoft.com/office/drawing/2014/main" id="{2596BA76-77D4-E443-6831-96FB42667F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1EB9D8-7E45-7003-282C-CE99BD73CDB4}"/>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49637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5A76-A7A8-FBC7-C740-34FB701BC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970D87-E5F9-27A6-DE67-1DF33FCD6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B803AF-B348-1A9A-3A95-2560FFB91A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179B81-9429-0ACC-35BB-ECE333BEE251}"/>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6" name="Footer Placeholder 5">
            <a:extLst>
              <a:ext uri="{FF2B5EF4-FFF2-40B4-BE49-F238E27FC236}">
                <a16:creationId xmlns:a16="http://schemas.microsoft.com/office/drawing/2014/main" id="{7EDDAE19-1CE7-EFC7-0531-5C95945620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D61CEE-0982-830E-2150-28928DED4D97}"/>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164840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78F4-F53F-B78F-AC2F-8B513D826F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DCCAC2-7892-EB75-8B95-74E62A6C2A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F6B09-E76A-84D6-92D8-F5DA5A8F6E2F}"/>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00754480-0DA9-C12C-ABE6-9334E9C9FA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20ED4C-2F5B-B52A-9B44-D5948E7C935E}"/>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54957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99C509-7E72-525B-CFD7-E9B843EC89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230E8-FC19-32D5-50D5-94D4BB305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C01C7-6E3C-506A-1F03-86833DE13CA4}"/>
              </a:ext>
            </a:extLst>
          </p:cNvPr>
          <p:cNvSpPr>
            <a:spLocks noGrp="1"/>
          </p:cNvSpPr>
          <p:nvPr>
            <p:ph type="dt" sz="half" idx="10"/>
          </p:nvPr>
        </p:nvSpPr>
        <p:spPr/>
        <p:txBody>
          <a:body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EED0F01C-A5AF-EAD1-C23E-40F4A6A9CD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062DB-14AB-3DFE-A728-D5CA2123B584}"/>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909875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C1BE1-9A9E-F8E4-25ED-A4E65918AB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38A641-BDA0-5476-5D78-A47CB40B6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0A3A7E-CA78-393E-4CBB-2FC1984B82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9FD05-0299-461C-8121-9386E0C8B94B}" type="datetimeFigureOut">
              <a:rPr lang="en-IN" smtClean="0"/>
              <a:t>16-03-2026</a:t>
            </a:fld>
            <a:endParaRPr lang="en-IN"/>
          </a:p>
        </p:txBody>
      </p:sp>
      <p:sp>
        <p:nvSpPr>
          <p:cNvPr id="5" name="Footer Placeholder 4">
            <a:extLst>
              <a:ext uri="{FF2B5EF4-FFF2-40B4-BE49-F238E27FC236}">
                <a16:creationId xmlns:a16="http://schemas.microsoft.com/office/drawing/2014/main" id="{70608830-DD7D-8DF0-C90F-DB7D4340D2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9D0242-EABB-C512-2E6A-711E665CE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843E3-566C-4A59-9F0F-5BE5C8F19EC5}" type="slidenum">
              <a:rPr lang="en-IN" smtClean="0"/>
              <a:t>‹#›</a:t>
            </a:fld>
            <a:endParaRPr lang="en-IN"/>
          </a:p>
        </p:txBody>
      </p:sp>
    </p:spTree>
    <p:extLst>
      <p:ext uri="{BB962C8B-B14F-4D97-AF65-F5344CB8AC3E}">
        <p14:creationId xmlns:p14="http://schemas.microsoft.com/office/powerpoint/2010/main" val="675069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B4E15D-7C0F-103D-C652-7FEDA4F33FA5}"/>
              </a:ext>
            </a:extLst>
          </p:cNvPr>
          <p:cNvSpPr>
            <a:spLocks noGrp="1"/>
          </p:cNvSpPr>
          <p:nvPr>
            <p:ph idx="1"/>
          </p:nvPr>
        </p:nvSpPr>
        <p:spPr>
          <a:xfrm>
            <a:off x="495300" y="1262107"/>
            <a:ext cx="11468100" cy="4859294"/>
          </a:xfrm>
        </p:spPr>
        <p:txBody>
          <a:bodyPr>
            <a:noAutofit/>
          </a:bodyPr>
          <a:lstStyle/>
          <a:p>
            <a:pPr marL="0" indent="0">
              <a:buNone/>
            </a:pPr>
            <a:r>
              <a:rPr lang="en-US" sz="1550" b="1" dirty="0">
                <a:latin typeface="Arial Narrow" panose="020B0606020202030204" pitchFamily="34" charset="0"/>
              </a:rPr>
              <a:t>Introduction</a:t>
            </a:r>
          </a:p>
          <a:p>
            <a:r>
              <a:rPr lang="en-US" sz="1550" dirty="0">
                <a:latin typeface="Arial Narrow" panose="020B0606020202030204" pitchFamily="34" charset="0"/>
              </a:rPr>
              <a:t>The rapid growth of Internet of Things (IoT) ecosystems has led to large numbers of devices communicating over lightweight messaging protocols. Among these protocols, the Message Queuing Telemetry Transport (MQTT) protocol has become one of the most widely adopted standards for device-to-device and device-to-cloud communication due to its lightweight design, publish–subscribe architecture and efficient bandwidth usage.</a:t>
            </a:r>
          </a:p>
          <a:p>
            <a:r>
              <a:rPr lang="en-US" sz="1550" dirty="0">
                <a:latin typeface="Arial Narrow" panose="020B0606020202030204" pitchFamily="34" charset="0"/>
              </a:rPr>
              <a:t>Different IoT vendors implement MQTT across multiple protocol versions such as MQTT 3.1, MQTT 3.1.1, and MQTT 5.0 depending on device capability, firmware architecture and backend cloud integration requirements. Although MQTT is standardized, vendor-specific implementations vary in session management, topic structure, Quality of Service (QoS) policies, metadata usage and protocol features.</a:t>
            </a:r>
          </a:p>
          <a:p>
            <a:r>
              <a:rPr lang="en-US" sz="1550" dirty="0">
                <a:latin typeface="Arial Narrow" panose="020B0606020202030204" pitchFamily="34" charset="0"/>
              </a:rPr>
              <a:t>This work focuses on studying how different IoT vendors implement MQTT across different versions and how observable communication patterns can be used to identify device behavior and implementation characteristics using a controlled experimental setup with simulated IoT devices and an MQTT broker.</a:t>
            </a:r>
            <a:endParaRPr lang="en-IN" sz="1550" dirty="0">
              <a:latin typeface="Arial Narrow" panose="020B0606020202030204" pitchFamily="34" charset="0"/>
            </a:endParaRPr>
          </a:p>
          <a:p>
            <a:pPr marL="0" indent="0">
              <a:buNone/>
            </a:pPr>
            <a:r>
              <a:rPr lang="en-US" sz="1550" b="1" dirty="0">
                <a:latin typeface="Arial Narrow" panose="020B0606020202030204" pitchFamily="34" charset="0"/>
              </a:rPr>
              <a:t>Motivation</a:t>
            </a:r>
          </a:p>
          <a:p>
            <a:r>
              <a:rPr lang="en-US" sz="1550" dirty="0">
                <a:latin typeface="Arial Narrow" panose="020B0606020202030204" pitchFamily="34" charset="0"/>
              </a:rPr>
              <a:t>Modern IoT networks contain devices from multiple vendors operating simultaneously with different MQTT versions and implementation strategies. Understanding these implementation differences is essential for improving device interoperability, network monitoring and security analysis.</a:t>
            </a:r>
          </a:p>
          <a:p>
            <a:r>
              <a:rPr lang="en-US" sz="1550" dirty="0">
                <a:latin typeface="Arial Narrow" panose="020B0606020202030204" pitchFamily="34" charset="0"/>
              </a:rPr>
              <a:t>Many IoT security and management systems require the ability to identify devices based solely on their communication behavior. However, vendor-specific MQTT implementations introduce variations in session parameters, topic hierarchies and message handling mechanisms that are not fully documented.</a:t>
            </a:r>
          </a:p>
          <a:p>
            <a:r>
              <a:rPr lang="en-US" sz="1550" dirty="0">
                <a:latin typeface="Arial Narrow" panose="020B0606020202030204" pitchFamily="34" charset="0"/>
              </a:rPr>
              <a:t>Therefore, there is a need to experimentally analyze and demonstrate how different vendors implement MQTT protocol versions in practice and how these implementation differences are observable in network communication patterns.</a:t>
            </a:r>
          </a:p>
          <a:p>
            <a:pPr marL="0" indent="0">
              <a:buNone/>
            </a:pPr>
            <a:endParaRPr lang="en-IN" sz="1550" dirty="0">
              <a:latin typeface="Arial Narrow" panose="020B0606020202030204" pitchFamily="34" charset="0"/>
            </a:endParaRPr>
          </a:p>
        </p:txBody>
      </p:sp>
      <p:grpSp>
        <p:nvGrpSpPr>
          <p:cNvPr id="2" name="Group 1">
            <a:extLst>
              <a:ext uri="{FF2B5EF4-FFF2-40B4-BE49-F238E27FC236}">
                <a16:creationId xmlns:a16="http://schemas.microsoft.com/office/drawing/2014/main" id="{8F9C1118-8D58-9DA5-DCEF-3613F05119D1}"/>
              </a:ext>
            </a:extLst>
          </p:cNvPr>
          <p:cNvGrpSpPr/>
          <p:nvPr/>
        </p:nvGrpSpPr>
        <p:grpSpPr>
          <a:xfrm>
            <a:off x="0" y="6480699"/>
            <a:ext cx="12192000" cy="377301"/>
            <a:chOff x="0" y="6261100"/>
            <a:chExt cx="12192000" cy="596900"/>
          </a:xfrm>
        </p:grpSpPr>
        <p:sp>
          <p:nvSpPr>
            <p:cNvPr id="21" name="Title 1">
              <a:extLst>
                <a:ext uri="{FF2B5EF4-FFF2-40B4-BE49-F238E27FC236}">
                  <a16:creationId xmlns:a16="http://schemas.microsoft.com/office/drawing/2014/main" id="{8421A50B-6609-AFDD-689D-A5E713D8CB29}"/>
                </a:ext>
              </a:extLst>
            </p:cNvPr>
            <p:cNvSpPr txBox="1">
              <a:spLocks/>
            </p:cNvSpPr>
            <p:nvPr/>
          </p:nvSpPr>
          <p:spPr>
            <a:xfrm>
              <a:off x="3286125" y="6261100"/>
              <a:ext cx="3663315" cy="596900"/>
            </a:xfrm>
            <a:prstGeom prst="rect">
              <a:avLst/>
            </a:prstGeom>
            <a:solidFill>
              <a:schemeClr val="accent1">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t>Roll No: 2301151</a:t>
              </a:r>
            </a:p>
          </p:txBody>
        </p:sp>
        <p:sp>
          <p:nvSpPr>
            <p:cNvPr id="22" name="Title 1">
              <a:extLst>
                <a:ext uri="{FF2B5EF4-FFF2-40B4-BE49-F238E27FC236}">
                  <a16:creationId xmlns:a16="http://schemas.microsoft.com/office/drawing/2014/main" id="{194475B1-5A5E-903F-BD8E-AC754086CE63}"/>
                </a:ext>
              </a:extLst>
            </p:cNvPr>
            <p:cNvSpPr txBox="1">
              <a:spLocks/>
            </p:cNvSpPr>
            <p:nvPr/>
          </p:nvSpPr>
          <p:spPr>
            <a:xfrm>
              <a:off x="0" y="6261100"/>
              <a:ext cx="3286125" cy="596900"/>
            </a:xfrm>
            <a:prstGeom prst="rect">
              <a:avLst/>
            </a:prstGeom>
            <a:solidFill>
              <a:schemeClr val="accent1">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mn-lt"/>
                </a:rPr>
                <a:t>Name: Pranita Mahajan</a:t>
              </a:r>
            </a:p>
          </p:txBody>
        </p:sp>
        <p:sp>
          <p:nvSpPr>
            <p:cNvPr id="23" name="Title 1">
              <a:extLst>
                <a:ext uri="{FF2B5EF4-FFF2-40B4-BE49-F238E27FC236}">
                  <a16:creationId xmlns:a16="http://schemas.microsoft.com/office/drawing/2014/main" id="{7F1BD94E-A008-DACA-4BEF-C9BA1D850E6A}"/>
                </a:ext>
              </a:extLst>
            </p:cNvPr>
            <p:cNvSpPr txBox="1">
              <a:spLocks/>
            </p:cNvSpPr>
            <p:nvPr/>
          </p:nvSpPr>
          <p:spPr>
            <a:xfrm>
              <a:off x="6949440" y="6261100"/>
              <a:ext cx="5242560" cy="596900"/>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t>Supervisor: Dr. Rakesh Matam</a:t>
              </a:r>
            </a:p>
          </p:txBody>
        </p:sp>
      </p:grpSp>
      <p:sp>
        <p:nvSpPr>
          <p:cNvPr id="26" name="Title 1">
            <a:extLst>
              <a:ext uri="{FF2B5EF4-FFF2-40B4-BE49-F238E27FC236}">
                <a16:creationId xmlns:a16="http://schemas.microsoft.com/office/drawing/2014/main" id="{EA836EDB-ED8F-3296-E9A3-25FEA0F16EBC}"/>
              </a:ext>
            </a:extLst>
          </p:cNvPr>
          <p:cNvSpPr txBox="1">
            <a:spLocks/>
          </p:cNvSpPr>
          <p:nvPr/>
        </p:nvSpPr>
        <p:spPr>
          <a:xfrm>
            <a:off x="0" y="-4116"/>
            <a:ext cx="12192000" cy="1117645"/>
          </a:xfrm>
          <a:prstGeom prst="rect">
            <a:avLst/>
          </a:prstGeom>
          <a:solidFill>
            <a:schemeClr val="accent5">
              <a:lumMod val="75000"/>
            </a:schemeClr>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solidFill>
                  <a:schemeClr val="bg1"/>
                </a:solidFill>
                <a:latin typeface="Arial Narrow" panose="020B0606020202030204" pitchFamily="34" charset="0"/>
              </a:rPr>
              <a:t>Project title: </a:t>
            </a:r>
            <a:r>
              <a:rPr lang="en-US" sz="3200" dirty="0">
                <a:solidFill>
                  <a:schemeClr val="bg1"/>
                </a:solidFill>
                <a:latin typeface="Arial Narrow" panose="020B0606020202030204" pitchFamily="34" charset="0"/>
              </a:rPr>
              <a:t>MQTT-Based IoT Fingerprinting: Detection and </a:t>
            </a:r>
          </a:p>
          <a:p>
            <a:r>
              <a:rPr lang="en-US" sz="3200" dirty="0">
                <a:solidFill>
                  <a:schemeClr val="bg1"/>
                </a:solidFill>
                <a:latin typeface="Arial Narrow" panose="020B0606020202030204" pitchFamily="34" charset="0"/>
              </a:rPr>
              <a:t>		Real-World Deployment</a:t>
            </a:r>
            <a:endParaRPr lang="en-IN" sz="3200" dirty="0">
              <a:solidFill>
                <a:schemeClr val="bg1"/>
              </a:solidFill>
              <a:latin typeface="Arial Narrow" panose="020B0606020202030204" pitchFamily="34" charset="0"/>
            </a:endParaRPr>
          </a:p>
        </p:txBody>
      </p:sp>
      <p:pic>
        <p:nvPicPr>
          <p:cNvPr id="6" name="Picture 5" descr="A blue and white logo&#10;&#10;AI-generated content may be incorrect.">
            <a:extLst>
              <a:ext uri="{FF2B5EF4-FFF2-40B4-BE49-F238E27FC236}">
                <a16:creationId xmlns:a16="http://schemas.microsoft.com/office/drawing/2014/main" id="{4143F702-3024-9C8E-72C2-2C3DF86EFD87}"/>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8877"/>
            <a:ext cx="1127848" cy="1128532"/>
          </a:xfrm>
          <a:prstGeom prst="rect">
            <a:avLst/>
          </a:prstGeom>
        </p:spPr>
      </p:pic>
    </p:spTree>
    <p:extLst>
      <p:ext uri="{BB962C8B-B14F-4D97-AF65-F5344CB8AC3E}">
        <p14:creationId xmlns:p14="http://schemas.microsoft.com/office/powerpoint/2010/main" val="1001574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8C635D8-8C28-BD2F-1F1E-E2E48CB6EE77}"/>
              </a:ext>
            </a:extLst>
          </p:cNvPr>
          <p:cNvGrpSpPr/>
          <p:nvPr/>
        </p:nvGrpSpPr>
        <p:grpSpPr>
          <a:xfrm>
            <a:off x="0" y="-8877"/>
            <a:ext cx="12192000" cy="911686"/>
            <a:chOff x="0" y="1"/>
            <a:chExt cx="12192000" cy="911686"/>
          </a:xfrm>
        </p:grpSpPr>
        <p:sp>
          <p:nvSpPr>
            <p:cNvPr id="7" name="Title 1">
              <a:extLst>
                <a:ext uri="{FF2B5EF4-FFF2-40B4-BE49-F238E27FC236}">
                  <a16:creationId xmlns:a16="http://schemas.microsoft.com/office/drawing/2014/main" id="{9D0A2EE0-154E-E948-B676-9A0EC519C2E9}"/>
                </a:ext>
              </a:extLst>
            </p:cNvPr>
            <p:cNvSpPr txBox="1">
              <a:spLocks/>
            </p:cNvSpPr>
            <p:nvPr/>
          </p:nvSpPr>
          <p:spPr>
            <a:xfrm>
              <a:off x="0" y="4763"/>
              <a:ext cx="12192000" cy="817932"/>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Existing work / Literature review:</a:t>
              </a:r>
            </a:p>
          </p:txBody>
        </p:sp>
        <p:pic>
          <p:nvPicPr>
            <p:cNvPr id="8" name="Picture 7" descr="A blue and white logo&#10;&#10;AI-generated content may be incorrect.">
              <a:extLst>
                <a:ext uri="{FF2B5EF4-FFF2-40B4-BE49-F238E27FC236}">
                  <a16:creationId xmlns:a16="http://schemas.microsoft.com/office/drawing/2014/main" id="{0CA020E2-B0BE-DCB2-B3B3-3798AA4290FF}"/>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219687" y="1"/>
              <a:ext cx="972305" cy="911686"/>
            </a:xfrm>
            <a:prstGeom prst="rect">
              <a:avLst/>
            </a:prstGeom>
          </p:spPr>
        </p:pic>
      </p:grpSp>
      <p:sp>
        <p:nvSpPr>
          <p:cNvPr id="12" name="Content Placeholder 2">
            <a:extLst>
              <a:ext uri="{FF2B5EF4-FFF2-40B4-BE49-F238E27FC236}">
                <a16:creationId xmlns:a16="http://schemas.microsoft.com/office/drawing/2014/main" id="{9014AF74-1ABF-BACD-0C3F-154679BAFB50}"/>
              </a:ext>
            </a:extLst>
          </p:cNvPr>
          <p:cNvSpPr>
            <a:spLocks noGrp="1"/>
          </p:cNvSpPr>
          <p:nvPr>
            <p:ph idx="1"/>
          </p:nvPr>
        </p:nvSpPr>
        <p:spPr>
          <a:xfrm>
            <a:off x="237739" y="902809"/>
            <a:ext cx="11468100" cy="4859294"/>
          </a:xfrm>
        </p:spPr>
        <p:txBody>
          <a:bodyPr>
            <a:noAutofit/>
          </a:bodyPr>
          <a:lstStyle/>
          <a:p>
            <a:pPr marL="0" indent="0">
              <a:buNone/>
            </a:pPr>
            <a:r>
              <a:rPr lang="en-IN" sz="1400" b="1" dirty="0">
                <a:latin typeface="Arial Narrow" panose="020B0606020202030204" pitchFamily="34" charset="0"/>
              </a:rPr>
              <a:t>Existing Work</a:t>
            </a:r>
          </a:p>
          <a:p>
            <a:pPr marL="0" indent="0">
              <a:buNone/>
            </a:pPr>
            <a:r>
              <a:rPr lang="en-IN" sz="1400" b="1" dirty="0">
                <a:latin typeface="Arial Narrow" panose="020B0606020202030204" pitchFamily="34" charset="0"/>
              </a:rPr>
              <a:t>References:</a:t>
            </a:r>
          </a:p>
          <a:p>
            <a:r>
              <a:rPr lang="en-IN" sz="1400" b="1" dirty="0">
                <a:latin typeface="Arial Narrow" panose="020B0606020202030204" pitchFamily="34" charset="0"/>
              </a:rPr>
              <a:t>Baena, E., Yang, H., Koutsonikolas, D., &amp; Haque, I. (2025).</a:t>
            </a:r>
            <a:br>
              <a:rPr lang="en-IN" sz="1400" dirty="0">
                <a:latin typeface="Arial Narrow" panose="020B0606020202030204" pitchFamily="34" charset="0"/>
              </a:rPr>
            </a:br>
            <a:r>
              <a:rPr lang="en-IN" sz="1400" i="1" dirty="0">
                <a:latin typeface="Arial Narrow" panose="020B0606020202030204" pitchFamily="34" charset="0"/>
              </a:rPr>
              <a:t>A Comprehensive Survey on Smart Home IoT Fingerprinting: From Detection to Prevention and Practical Deployment.</a:t>
            </a:r>
            <a:br>
              <a:rPr lang="en-IN" sz="1400" dirty="0">
                <a:latin typeface="Arial Narrow" panose="020B0606020202030204" pitchFamily="34" charset="0"/>
              </a:rPr>
            </a:br>
            <a:r>
              <a:rPr lang="en-IN" sz="1400" dirty="0">
                <a:latin typeface="Arial Narrow" panose="020B0606020202030204" pitchFamily="34" charset="0"/>
              </a:rPr>
              <a:t>arXiv preprint arXiv:2510.09700.</a:t>
            </a:r>
          </a:p>
          <a:p>
            <a:r>
              <a:rPr lang="en-IN" sz="1400" b="1" dirty="0">
                <a:latin typeface="Arial Narrow" panose="020B0606020202030204" pitchFamily="34" charset="0"/>
              </a:rPr>
              <a:t>Soni, D., &amp; Makwana, A. (2017).</a:t>
            </a:r>
            <a:br>
              <a:rPr lang="en-IN" sz="1400" dirty="0">
                <a:latin typeface="Arial Narrow" panose="020B0606020202030204" pitchFamily="34" charset="0"/>
              </a:rPr>
            </a:br>
            <a:r>
              <a:rPr lang="en-IN" sz="1400" i="1" dirty="0">
                <a:latin typeface="Arial Narrow" panose="020B0606020202030204" pitchFamily="34" charset="0"/>
              </a:rPr>
              <a:t>A Survey on MQTT: A Protocol of Internet of Things (IoT).</a:t>
            </a:r>
            <a:br>
              <a:rPr lang="en-IN" sz="1400" dirty="0">
                <a:latin typeface="Arial Narrow" panose="020B0606020202030204" pitchFamily="34" charset="0"/>
              </a:rPr>
            </a:br>
            <a:r>
              <a:rPr lang="en-IN" sz="1400" dirty="0">
                <a:latin typeface="Arial Narrow" panose="020B0606020202030204" pitchFamily="34" charset="0"/>
              </a:rPr>
              <a:t>International Conference on Telecommunication, Power Analysis and Computing Techniques (ICTPACT).</a:t>
            </a:r>
          </a:p>
          <a:p>
            <a:pPr marL="0" indent="0">
              <a:buNone/>
            </a:pPr>
            <a:r>
              <a:rPr lang="en-US" sz="1400" b="1" dirty="0">
                <a:latin typeface="Arial Narrow" panose="020B0606020202030204" pitchFamily="34" charset="0"/>
              </a:rPr>
              <a:t>Key Ideas</a:t>
            </a:r>
          </a:p>
          <a:p>
            <a:r>
              <a:rPr lang="en-US" sz="1400" dirty="0">
                <a:latin typeface="Arial Narrow" panose="020B0606020202030204" pitchFamily="34" charset="0"/>
              </a:rPr>
              <a:t>Baena et al. survey various </a:t>
            </a:r>
            <a:r>
              <a:rPr lang="en-US" sz="1400" b="1" dirty="0">
                <a:latin typeface="Arial Narrow" panose="020B0606020202030204" pitchFamily="34" charset="0"/>
              </a:rPr>
              <a:t>IoT device fingerprinting techniques</a:t>
            </a:r>
            <a:r>
              <a:rPr lang="en-US" sz="1400" dirty="0">
                <a:latin typeface="Arial Narrow" panose="020B0606020202030204" pitchFamily="34" charset="0"/>
              </a:rPr>
              <a:t> used for identifying smart home devices based on network communication behavior.</a:t>
            </a:r>
          </a:p>
          <a:p>
            <a:r>
              <a:rPr lang="en-US" sz="1400" dirty="0">
                <a:latin typeface="Arial Narrow" panose="020B0606020202030204" pitchFamily="34" charset="0"/>
              </a:rPr>
              <a:t>The work highlights </a:t>
            </a:r>
            <a:r>
              <a:rPr lang="en-US" sz="1400" b="1" dirty="0">
                <a:latin typeface="Arial Narrow" panose="020B0606020202030204" pitchFamily="34" charset="0"/>
              </a:rPr>
              <a:t>detection and prevention mechanisms</a:t>
            </a:r>
            <a:r>
              <a:rPr lang="en-US" sz="1400" dirty="0">
                <a:latin typeface="Arial Narrow" panose="020B0606020202030204" pitchFamily="34" charset="0"/>
              </a:rPr>
              <a:t> to improve security and monitoring in smart home IoT environments.</a:t>
            </a:r>
          </a:p>
          <a:p>
            <a:r>
              <a:rPr lang="en-US" sz="1400" dirty="0">
                <a:latin typeface="Arial Narrow" panose="020B0606020202030204" pitchFamily="34" charset="0"/>
              </a:rPr>
              <a:t>Soni and Makwana present an overview of the </a:t>
            </a:r>
            <a:r>
              <a:rPr lang="en-US" sz="1400" b="1" dirty="0">
                <a:latin typeface="Arial Narrow" panose="020B0606020202030204" pitchFamily="34" charset="0"/>
              </a:rPr>
              <a:t>MQTT protocol architecture, publish–subscribe communication model, and its importance in IoT systems</a:t>
            </a:r>
            <a:r>
              <a:rPr lang="en-US" sz="1400" dirty="0">
                <a:latin typeface="Arial Narrow" panose="020B0606020202030204" pitchFamily="34" charset="0"/>
              </a:rPr>
              <a:t>.</a:t>
            </a:r>
          </a:p>
          <a:p>
            <a:endParaRPr lang="en-IN" sz="1400" dirty="0">
              <a:latin typeface="Arial Narrow" panose="020B0606020202030204" pitchFamily="34" charset="0"/>
            </a:endParaRPr>
          </a:p>
          <a:p>
            <a:pPr marL="0" indent="0">
              <a:buNone/>
            </a:pPr>
            <a:r>
              <a:rPr lang="en-IN" sz="1400" b="1" dirty="0">
                <a:latin typeface="Arial Narrow" panose="020B0606020202030204" pitchFamily="34" charset="0"/>
              </a:rPr>
              <a:t>Gaps in Existing Work </a:t>
            </a:r>
          </a:p>
          <a:p>
            <a:r>
              <a:rPr lang="en-IN" sz="1400" dirty="0">
                <a:latin typeface="Arial Narrow" panose="020B0606020202030204" pitchFamily="34" charset="0"/>
              </a:rPr>
              <a:t>Existing studies generally analyse MQTT protocol performance and scalability but do not examine how different IoT vendors implement MQTT versions differently at the firmware or device level.</a:t>
            </a:r>
          </a:p>
          <a:p>
            <a:r>
              <a:rPr lang="en-IN" sz="1400" dirty="0">
                <a:latin typeface="Arial Narrow" panose="020B0606020202030204" pitchFamily="34" charset="0"/>
              </a:rPr>
              <a:t>There is limited experimental work demonstrating vendor-specific MQTT behaviour, such as variations in session parameters, topic hierarchy design, Quality of Service policies, and protocol feature usage across MQTT versions.</a:t>
            </a:r>
          </a:p>
          <a:p>
            <a:r>
              <a:rPr lang="en-IN" sz="1400" dirty="0">
                <a:latin typeface="Arial Narrow" panose="020B0606020202030204" pitchFamily="34" charset="0"/>
              </a:rPr>
              <a:t>Additionally, current literature lacks controlled experimental frameworks that simulate multiple vendor devices operating with different MQTT versions in order to observe and analyse their communication patterns.</a:t>
            </a:r>
          </a:p>
          <a:p>
            <a:pPr marL="0" indent="0">
              <a:buNone/>
            </a:pPr>
            <a:endParaRPr lang="en-IN" sz="1400" dirty="0">
              <a:latin typeface="Arial Narrow" panose="020B0606020202030204" pitchFamily="34" charset="0"/>
            </a:endParaRPr>
          </a:p>
        </p:txBody>
      </p:sp>
      <p:grpSp>
        <p:nvGrpSpPr>
          <p:cNvPr id="2" name="Group 1">
            <a:extLst>
              <a:ext uri="{FF2B5EF4-FFF2-40B4-BE49-F238E27FC236}">
                <a16:creationId xmlns:a16="http://schemas.microsoft.com/office/drawing/2014/main" id="{341E8370-1E87-22A3-3D16-7B650A51FA02}"/>
              </a:ext>
            </a:extLst>
          </p:cNvPr>
          <p:cNvGrpSpPr/>
          <p:nvPr/>
        </p:nvGrpSpPr>
        <p:grpSpPr>
          <a:xfrm>
            <a:off x="1" y="6480699"/>
            <a:ext cx="12191992" cy="377301"/>
            <a:chOff x="1" y="6261100"/>
            <a:chExt cx="12191992" cy="596900"/>
          </a:xfrm>
        </p:grpSpPr>
        <p:sp>
          <p:nvSpPr>
            <p:cNvPr id="3" name="Title 1">
              <a:extLst>
                <a:ext uri="{FF2B5EF4-FFF2-40B4-BE49-F238E27FC236}">
                  <a16:creationId xmlns:a16="http://schemas.microsoft.com/office/drawing/2014/main" id="{D3E8704A-657C-CB51-5040-578F1774B5B4}"/>
                </a:ext>
              </a:extLst>
            </p:cNvPr>
            <p:cNvSpPr txBox="1">
              <a:spLocks/>
            </p:cNvSpPr>
            <p:nvPr/>
          </p:nvSpPr>
          <p:spPr>
            <a:xfrm>
              <a:off x="2212849" y="6261100"/>
              <a:ext cx="4736591" cy="596900"/>
            </a:xfrm>
            <a:prstGeom prst="rect">
              <a:avLst/>
            </a:prstGeom>
            <a:solidFill>
              <a:schemeClr val="accent1">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Arial Narrow" panose="020B0606020202030204" pitchFamily="34" charset="0"/>
                </a:rPr>
                <a:t>Roll No: 2301151</a:t>
              </a:r>
            </a:p>
          </p:txBody>
        </p:sp>
        <p:sp>
          <p:nvSpPr>
            <p:cNvPr id="4" name="Title 1">
              <a:extLst>
                <a:ext uri="{FF2B5EF4-FFF2-40B4-BE49-F238E27FC236}">
                  <a16:creationId xmlns:a16="http://schemas.microsoft.com/office/drawing/2014/main" id="{F30A105E-2283-5602-29E5-DF866B3FADE1}"/>
                </a:ext>
              </a:extLst>
            </p:cNvPr>
            <p:cNvSpPr txBox="1">
              <a:spLocks/>
            </p:cNvSpPr>
            <p:nvPr/>
          </p:nvSpPr>
          <p:spPr>
            <a:xfrm>
              <a:off x="1" y="6261100"/>
              <a:ext cx="2212848" cy="596900"/>
            </a:xfrm>
            <a:prstGeom prst="rect">
              <a:avLst/>
            </a:prstGeom>
            <a:solidFill>
              <a:schemeClr val="accent1">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Arial Narrow" panose="020B0606020202030204" pitchFamily="34" charset="0"/>
                </a:rPr>
                <a:t>Name: Pranita Mahajan</a:t>
              </a:r>
            </a:p>
          </p:txBody>
        </p:sp>
        <p:sp>
          <p:nvSpPr>
            <p:cNvPr id="5" name="Title 1">
              <a:extLst>
                <a:ext uri="{FF2B5EF4-FFF2-40B4-BE49-F238E27FC236}">
                  <a16:creationId xmlns:a16="http://schemas.microsoft.com/office/drawing/2014/main" id="{17EC6BC5-2167-2E0C-2EBA-28FD769A6C6C}"/>
                </a:ext>
              </a:extLst>
            </p:cNvPr>
            <p:cNvSpPr txBox="1">
              <a:spLocks/>
            </p:cNvSpPr>
            <p:nvPr/>
          </p:nvSpPr>
          <p:spPr>
            <a:xfrm>
              <a:off x="4864601" y="6261100"/>
              <a:ext cx="7327392" cy="596900"/>
            </a:xfrm>
            <a:prstGeom prst="rect">
              <a:avLst/>
            </a:prstGeom>
            <a:solidFill>
              <a:schemeClr val="accent1">
                <a:lumMod val="20000"/>
                <a:lumOff val="80000"/>
              </a:schemeClr>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1200" b="1" dirty="0">
                <a:latin typeface="Arial Narrow" panose="020B0606020202030204" pitchFamily="34" charset="0"/>
              </a:endParaRPr>
            </a:p>
            <a:p>
              <a:r>
                <a:rPr lang="en-IN" sz="1200" b="1" dirty="0">
                  <a:latin typeface="Arial Narrow" panose="020B0606020202030204" pitchFamily="34" charset="0"/>
                </a:rPr>
                <a:t>Project Title: </a:t>
              </a:r>
              <a:r>
                <a:rPr lang="en-US" sz="1200" b="1" dirty="0">
                  <a:latin typeface="Arial Narrow" panose="020B0606020202030204" pitchFamily="34" charset="0"/>
                </a:rPr>
                <a:t>MQTT-Based IoT Fingerprinting: Detection and Real-World Deployment</a:t>
              </a:r>
              <a:endParaRPr lang="en-IN" sz="1200" b="1" dirty="0">
                <a:latin typeface="Arial Narrow" panose="020B0606020202030204" pitchFamily="34" charset="0"/>
              </a:endParaRPr>
            </a:p>
            <a:p>
              <a:endParaRPr lang="en-IN" sz="1200" b="1" dirty="0">
                <a:latin typeface="Arial Narrow" panose="020B0606020202030204" pitchFamily="34" charset="0"/>
              </a:endParaRPr>
            </a:p>
          </p:txBody>
        </p:sp>
      </p:grpSp>
    </p:spTree>
    <p:extLst>
      <p:ext uri="{BB962C8B-B14F-4D97-AF65-F5344CB8AC3E}">
        <p14:creationId xmlns:p14="http://schemas.microsoft.com/office/powerpoint/2010/main" val="267036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86EA4-504E-4B44-A0FA-89B818D6CC7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BD31F17-3A7D-4332-FF96-CD031DA0293F}"/>
              </a:ext>
            </a:extLst>
          </p:cNvPr>
          <p:cNvGrpSpPr/>
          <p:nvPr/>
        </p:nvGrpSpPr>
        <p:grpSpPr>
          <a:xfrm>
            <a:off x="0" y="-8877"/>
            <a:ext cx="12192000" cy="1128532"/>
            <a:chOff x="0" y="1"/>
            <a:chExt cx="12192000" cy="1128532"/>
          </a:xfrm>
        </p:grpSpPr>
        <p:sp>
          <p:nvSpPr>
            <p:cNvPr id="7" name="Title 1">
              <a:extLst>
                <a:ext uri="{FF2B5EF4-FFF2-40B4-BE49-F238E27FC236}">
                  <a16:creationId xmlns:a16="http://schemas.microsoft.com/office/drawing/2014/main" id="{48CE9F7E-6FC5-8134-76B2-E703B2F75801}"/>
                </a:ext>
              </a:extLst>
            </p:cNvPr>
            <p:cNvSpPr txBox="1">
              <a:spLocks/>
            </p:cNvSpPr>
            <p:nvPr/>
          </p:nvSpPr>
          <p:spPr>
            <a:xfrm>
              <a:off x="0" y="4762"/>
              <a:ext cx="12192000" cy="1117645"/>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Work Done till date:</a:t>
              </a:r>
            </a:p>
          </p:txBody>
        </p:sp>
        <p:pic>
          <p:nvPicPr>
            <p:cNvPr id="8" name="Picture 7" descr="A blue and white logo&#10;&#10;AI-generated content may be incorrect.">
              <a:extLst>
                <a:ext uri="{FF2B5EF4-FFF2-40B4-BE49-F238E27FC236}">
                  <a16:creationId xmlns:a16="http://schemas.microsoft.com/office/drawing/2014/main" id="{071D131A-A591-2D82-7001-4C9AE11B9EC4}"/>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1"/>
              <a:ext cx="1127848" cy="1128532"/>
            </a:xfrm>
            <a:prstGeom prst="rect">
              <a:avLst/>
            </a:prstGeom>
          </p:spPr>
        </p:pic>
      </p:grpSp>
      <p:sp>
        <p:nvSpPr>
          <p:cNvPr id="12" name="Content Placeholder 2">
            <a:extLst>
              <a:ext uri="{FF2B5EF4-FFF2-40B4-BE49-F238E27FC236}">
                <a16:creationId xmlns:a16="http://schemas.microsoft.com/office/drawing/2014/main" id="{5621886E-B3AF-1B89-B930-F2746655202B}"/>
              </a:ext>
            </a:extLst>
          </p:cNvPr>
          <p:cNvSpPr>
            <a:spLocks noGrp="1"/>
          </p:cNvSpPr>
          <p:nvPr>
            <p:ph idx="1"/>
          </p:nvPr>
        </p:nvSpPr>
        <p:spPr>
          <a:xfrm>
            <a:off x="495300" y="1262107"/>
            <a:ext cx="11468100" cy="4859294"/>
          </a:xfrm>
        </p:spPr>
        <p:txBody>
          <a:bodyPr>
            <a:normAutofit/>
          </a:bodyPr>
          <a:lstStyle/>
          <a:p>
            <a:r>
              <a:rPr lang="en-IN" sz="2000" b="1" dirty="0">
                <a:latin typeface="Arial Narrow" panose="020B0606020202030204" pitchFamily="34" charset="0"/>
              </a:rPr>
              <a:t>Details of Proposed Work / Solution</a:t>
            </a:r>
          </a:p>
          <a:p>
            <a:r>
              <a:rPr lang="en-IN" sz="2000" dirty="0">
                <a:latin typeface="Arial Narrow" panose="020B0606020202030204" pitchFamily="34" charset="0"/>
              </a:rPr>
              <a:t>Develop a virtual IoT environment  using </a:t>
            </a:r>
            <a:r>
              <a:rPr lang="en-IN" sz="2000" b="1" dirty="0">
                <a:latin typeface="Arial Narrow" panose="020B0606020202030204" pitchFamily="34" charset="0"/>
              </a:rPr>
              <a:t>Docker</a:t>
            </a:r>
            <a:r>
              <a:rPr lang="en-IN" sz="2000" dirty="0">
                <a:latin typeface="Arial Narrow" panose="020B0606020202030204" pitchFamily="34" charset="0"/>
              </a:rPr>
              <a:t> where multiple simulated devices represent different vendors operating with different MQTT protocol versions.</a:t>
            </a:r>
          </a:p>
          <a:p>
            <a:r>
              <a:rPr lang="en-IN" sz="2000" dirty="0">
                <a:latin typeface="Arial Narrow" panose="020B0606020202030204" pitchFamily="34" charset="0"/>
              </a:rPr>
              <a:t>Capture and analyse MQTT communication between devices and a central broker using </a:t>
            </a:r>
            <a:r>
              <a:rPr lang="en-IN" sz="2000" b="1" dirty="0">
                <a:latin typeface="Arial Narrow" panose="020B0606020202030204" pitchFamily="34" charset="0"/>
              </a:rPr>
              <a:t>mosquito</a:t>
            </a:r>
            <a:r>
              <a:rPr lang="en-IN" sz="2000" dirty="0">
                <a:latin typeface="Arial Narrow" panose="020B0606020202030204" pitchFamily="34" charset="0"/>
              </a:rPr>
              <a:t> to extract protocol-level features such as CONNECT parameters, topic hierarchy, QoS usage, and publish–subscribe behaviour.</a:t>
            </a:r>
          </a:p>
          <a:p>
            <a:r>
              <a:rPr lang="en-IN" sz="2000" dirty="0">
                <a:latin typeface="Arial Narrow" panose="020B0606020202030204" pitchFamily="34" charset="0"/>
              </a:rPr>
              <a:t>Use the extracted communication patterns to identify device roles, MQTT protocol versions, and vendor-specific implementation characteristics in a software-only environment.</a:t>
            </a:r>
          </a:p>
          <a:p>
            <a:pPr>
              <a:buFont typeface="Wingdings" panose="05000000000000000000" pitchFamily="2" charset="2"/>
              <a:buChar char="§"/>
            </a:pPr>
            <a:endParaRPr lang="en-IN" sz="2000" dirty="0">
              <a:latin typeface="Arial Narrow" panose="020B0606020202030204" pitchFamily="34" charset="0"/>
            </a:endParaRPr>
          </a:p>
          <a:p>
            <a:pPr marL="0" indent="0">
              <a:buNone/>
            </a:pPr>
            <a:endParaRPr lang="en-IN" sz="2000" b="1" dirty="0">
              <a:latin typeface="Arial Narrow" panose="020B0606020202030204" pitchFamily="34" charset="0"/>
            </a:endParaRPr>
          </a:p>
          <a:p>
            <a:pPr marL="0" indent="0">
              <a:buNone/>
            </a:pPr>
            <a:endParaRPr lang="en-IN" sz="2000" dirty="0">
              <a:latin typeface="Arial Narrow" panose="020B0606020202030204" pitchFamily="34" charset="0"/>
            </a:endParaRPr>
          </a:p>
        </p:txBody>
      </p:sp>
      <p:grpSp>
        <p:nvGrpSpPr>
          <p:cNvPr id="2" name="Group 1">
            <a:extLst>
              <a:ext uri="{FF2B5EF4-FFF2-40B4-BE49-F238E27FC236}">
                <a16:creationId xmlns:a16="http://schemas.microsoft.com/office/drawing/2014/main" id="{1362E042-32F2-FA18-2746-0AFB933EE614}"/>
              </a:ext>
            </a:extLst>
          </p:cNvPr>
          <p:cNvGrpSpPr/>
          <p:nvPr/>
        </p:nvGrpSpPr>
        <p:grpSpPr>
          <a:xfrm>
            <a:off x="0" y="6480699"/>
            <a:ext cx="12192000" cy="377301"/>
            <a:chOff x="0" y="6261100"/>
            <a:chExt cx="12192000" cy="596900"/>
          </a:xfrm>
        </p:grpSpPr>
        <p:sp>
          <p:nvSpPr>
            <p:cNvPr id="3" name="Title 1">
              <a:extLst>
                <a:ext uri="{FF2B5EF4-FFF2-40B4-BE49-F238E27FC236}">
                  <a16:creationId xmlns:a16="http://schemas.microsoft.com/office/drawing/2014/main" id="{32090CDE-A58B-E16F-A46A-1976839F89E1}"/>
                </a:ext>
              </a:extLst>
            </p:cNvPr>
            <p:cNvSpPr txBox="1">
              <a:spLocks/>
            </p:cNvSpPr>
            <p:nvPr/>
          </p:nvSpPr>
          <p:spPr>
            <a:xfrm>
              <a:off x="3200399" y="6261100"/>
              <a:ext cx="3084959" cy="596900"/>
            </a:xfrm>
            <a:prstGeom prst="rect">
              <a:avLst/>
            </a:prstGeom>
            <a:solidFill>
              <a:schemeClr val="accent1">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t>Roll No: </a:t>
              </a:r>
            </a:p>
          </p:txBody>
        </p:sp>
        <p:sp>
          <p:nvSpPr>
            <p:cNvPr id="4" name="Title 1">
              <a:extLst>
                <a:ext uri="{FF2B5EF4-FFF2-40B4-BE49-F238E27FC236}">
                  <a16:creationId xmlns:a16="http://schemas.microsoft.com/office/drawing/2014/main" id="{AB063C7F-3F5B-B978-63C2-9CF5E6412C59}"/>
                </a:ext>
              </a:extLst>
            </p:cNvPr>
            <p:cNvSpPr txBox="1">
              <a:spLocks/>
            </p:cNvSpPr>
            <p:nvPr/>
          </p:nvSpPr>
          <p:spPr>
            <a:xfrm>
              <a:off x="0" y="6261100"/>
              <a:ext cx="3200399" cy="596900"/>
            </a:xfrm>
            <a:prstGeom prst="rect">
              <a:avLst/>
            </a:prstGeom>
            <a:solidFill>
              <a:schemeClr val="accent1">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mn-lt"/>
                </a:rPr>
                <a:t>Name:</a:t>
              </a:r>
            </a:p>
          </p:txBody>
        </p:sp>
        <p:sp>
          <p:nvSpPr>
            <p:cNvPr id="5" name="Title 1">
              <a:extLst>
                <a:ext uri="{FF2B5EF4-FFF2-40B4-BE49-F238E27FC236}">
                  <a16:creationId xmlns:a16="http://schemas.microsoft.com/office/drawing/2014/main" id="{FAE4836D-3588-F827-2BA9-CEE35B153A9C}"/>
                </a:ext>
              </a:extLst>
            </p:cNvPr>
            <p:cNvSpPr txBox="1">
              <a:spLocks/>
            </p:cNvSpPr>
            <p:nvPr/>
          </p:nvSpPr>
          <p:spPr>
            <a:xfrm>
              <a:off x="6285358" y="6261100"/>
              <a:ext cx="5906642" cy="596900"/>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t>Project Title:</a:t>
              </a:r>
            </a:p>
          </p:txBody>
        </p:sp>
      </p:grpSp>
      <p:grpSp>
        <p:nvGrpSpPr>
          <p:cNvPr id="9" name="Group 8">
            <a:extLst>
              <a:ext uri="{FF2B5EF4-FFF2-40B4-BE49-F238E27FC236}">
                <a16:creationId xmlns:a16="http://schemas.microsoft.com/office/drawing/2014/main" id="{5B0825E1-1320-2154-5EF1-CFECF0D656F0}"/>
              </a:ext>
            </a:extLst>
          </p:cNvPr>
          <p:cNvGrpSpPr/>
          <p:nvPr/>
        </p:nvGrpSpPr>
        <p:grpSpPr>
          <a:xfrm>
            <a:off x="1" y="6480699"/>
            <a:ext cx="12191992" cy="377301"/>
            <a:chOff x="1" y="6261100"/>
            <a:chExt cx="12191992" cy="596900"/>
          </a:xfrm>
        </p:grpSpPr>
        <p:sp>
          <p:nvSpPr>
            <p:cNvPr id="10" name="Title 1">
              <a:extLst>
                <a:ext uri="{FF2B5EF4-FFF2-40B4-BE49-F238E27FC236}">
                  <a16:creationId xmlns:a16="http://schemas.microsoft.com/office/drawing/2014/main" id="{4721041A-14E4-0D76-40E2-B4102272C0DD}"/>
                </a:ext>
              </a:extLst>
            </p:cNvPr>
            <p:cNvSpPr txBox="1">
              <a:spLocks/>
            </p:cNvSpPr>
            <p:nvPr/>
          </p:nvSpPr>
          <p:spPr>
            <a:xfrm>
              <a:off x="2212849" y="6261100"/>
              <a:ext cx="4736591" cy="596900"/>
            </a:xfrm>
            <a:prstGeom prst="rect">
              <a:avLst/>
            </a:prstGeom>
            <a:solidFill>
              <a:schemeClr val="accent1">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Arial Narrow" panose="020B0606020202030204" pitchFamily="34" charset="0"/>
                </a:rPr>
                <a:t>Roll No: 2301151</a:t>
              </a:r>
            </a:p>
          </p:txBody>
        </p:sp>
        <p:sp>
          <p:nvSpPr>
            <p:cNvPr id="11" name="Title 1">
              <a:extLst>
                <a:ext uri="{FF2B5EF4-FFF2-40B4-BE49-F238E27FC236}">
                  <a16:creationId xmlns:a16="http://schemas.microsoft.com/office/drawing/2014/main" id="{13708350-C57A-5421-21AC-149D53D627CB}"/>
                </a:ext>
              </a:extLst>
            </p:cNvPr>
            <p:cNvSpPr txBox="1">
              <a:spLocks/>
            </p:cNvSpPr>
            <p:nvPr/>
          </p:nvSpPr>
          <p:spPr>
            <a:xfrm>
              <a:off x="1" y="6261100"/>
              <a:ext cx="2212848" cy="596900"/>
            </a:xfrm>
            <a:prstGeom prst="rect">
              <a:avLst/>
            </a:prstGeom>
            <a:solidFill>
              <a:schemeClr val="accent1">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dirty="0">
                  <a:latin typeface="Arial Narrow" panose="020B0606020202030204" pitchFamily="34" charset="0"/>
                </a:rPr>
                <a:t>Name: Pranita Mahajan</a:t>
              </a:r>
            </a:p>
          </p:txBody>
        </p:sp>
        <p:sp>
          <p:nvSpPr>
            <p:cNvPr id="13" name="Title 1">
              <a:extLst>
                <a:ext uri="{FF2B5EF4-FFF2-40B4-BE49-F238E27FC236}">
                  <a16:creationId xmlns:a16="http://schemas.microsoft.com/office/drawing/2014/main" id="{FEB06741-42F5-F35C-4FD3-EB7CB4A14B31}"/>
                </a:ext>
              </a:extLst>
            </p:cNvPr>
            <p:cNvSpPr txBox="1">
              <a:spLocks/>
            </p:cNvSpPr>
            <p:nvPr/>
          </p:nvSpPr>
          <p:spPr>
            <a:xfrm>
              <a:off x="4864601" y="6261100"/>
              <a:ext cx="7327392" cy="596900"/>
            </a:xfrm>
            <a:prstGeom prst="rect">
              <a:avLst/>
            </a:prstGeom>
            <a:solidFill>
              <a:schemeClr val="accent1">
                <a:lumMod val="20000"/>
                <a:lumOff val="80000"/>
              </a:schemeClr>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1200" b="1" dirty="0">
                <a:latin typeface="Arial Narrow" panose="020B0606020202030204" pitchFamily="34" charset="0"/>
              </a:endParaRPr>
            </a:p>
            <a:p>
              <a:r>
                <a:rPr lang="en-IN" sz="1200" b="1" dirty="0">
                  <a:latin typeface="Arial Narrow" panose="020B0606020202030204" pitchFamily="34" charset="0"/>
                </a:rPr>
                <a:t>Project Title: </a:t>
              </a:r>
              <a:r>
                <a:rPr lang="en-US" sz="1200" b="1">
                  <a:latin typeface="Arial Narrow" panose="020B0606020202030204" pitchFamily="34" charset="0"/>
                </a:rPr>
                <a:t>MQTT-Based IoT </a:t>
              </a:r>
              <a:r>
                <a:rPr lang="en-US" sz="1200" b="1" dirty="0">
                  <a:latin typeface="Arial Narrow" panose="020B0606020202030204" pitchFamily="34" charset="0"/>
                </a:rPr>
                <a:t>Fingerprinting: Detection and Real-World Deployment</a:t>
              </a:r>
              <a:endParaRPr lang="en-IN" sz="1200" b="1" dirty="0">
                <a:latin typeface="Arial Narrow" panose="020B0606020202030204" pitchFamily="34" charset="0"/>
              </a:endParaRPr>
            </a:p>
            <a:p>
              <a:endParaRPr lang="en-IN" sz="1200" b="1" dirty="0">
                <a:latin typeface="Arial Narrow" panose="020B0606020202030204" pitchFamily="34" charset="0"/>
              </a:endParaRPr>
            </a:p>
          </p:txBody>
        </p:sp>
      </p:grpSp>
      <p:sp>
        <p:nvSpPr>
          <p:cNvPr id="18" name="AutoShape 2" descr="Generated image: IoT device communication analysis flowchart">
            <a:extLst>
              <a:ext uri="{FF2B5EF4-FFF2-40B4-BE49-F238E27FC236}">
                <a16:creationId xmlns:a16="http://schemas.microsoft.com/office/drawing/2014/main" id="{A016892C-61FE-8DFD-9F52-D6F1E9B0A0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 name="Picture 19">
            <a:extLst>
              <a:ext uri="{FF2B5EF4-FFF2-40B4-BE49-F238E27FC236}">
                <a16:creationId xmlns:a16="http://schemas.microsoft.com/office/drawing/2014/main" id="{B9459209-9C9C-1087-87D9-8AA1D6F1B939}"/>
              </a:ext>
            </a:extLst>
          </p:cNvPr>
          <p:cNvPicPr>
            <a:picLocks noChangeAspect="1"/>
          </p:cNvPicPr>
          <p:nvPr/>
        </p:nvPicPr>
        <p:blipFill>
          <a:blip r:embed="rId4">
            <a:extLst>
              <a:ext uri="{28A0092B-C50C-407E-A947-70E740481C1C}">
                <a14:useLocalDpi xmlns:a14="http://schemas.microsoft.com/office/drawing/2010/main" val="0"/>
              </a:ext>
            </a:extLst>
          </a:blip>
          <a:srcRect t="6223" b="14961"/>
          <a:stretch>
            <a:fillRect/>
          </a:stretch>
        </p:blipFill>
        <p:spPr>
          <a:xfrm>
            <a:off x="6682702" y="3526353"/>
            <a:ext cx="5280698" cy="2774697"/>
          </a:xfrm>
          <a:prstGeom prst="rect">
            <a:avLst/>
          </a:prstGeom>
        </p:spPr>
      </p:pic>
    </p:spTree>
    <p:extLst>
      <p:ext uri="{BB962C8B-B14F-4D97-AF65-F5344CB8AC3E}">
        <p14:creationId xmlns:p14="http://schemas.microsoft.com/office/powerpoint/2010/main" val="4243342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TotalTime>
  <Words>704</Words>
  <Application>Microsoft Office PowerPoint</Application>
  <PresentationFormat>Widescreen</PresentationFormat>
  <Paragraphs>47</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Arial Narrow</vt:lpstr>
      <vt:lpstr>Calibri</vt:lpstr>
      <vt:lpstr>Calibri Light</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Manojit Ghose</dc:creator>
  <cp:lastModifiedBy>Pranita Mahajan</cp:lastModifiedBy>
  <cp:revision>8</cp:revision>
  <dcterms:created xsi:type="dcterms:W3CDTF">2025-09-08T13:03:57Z</dcterms:created>
  <dcterms:modified xsi:type="dcterms:W3CDTF">2026-03-16T10:19:02Z</dcterms:modified>
</cp:coreProperties>
</file>